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fdf2a4f76240e6" /><Relationship Type="http://schemas.openxmlformats.org/officeDocument/2006/relationships/extended-properties" Target="/docProps/app.xml" Id="Rfd996bf2a0aa40c2" /><Relationship Type="http://schemas.openxmlformats.org/officeDocument/2006/relationships/officeDocument" Target="/ppt/presentation.xml" Id="Ra55803934d6040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de3c73e0a94cc8"/>
  </p:sldMasterIdLst>
  <p:notesMasterIdLst>
    <p:notesMasterId xmlns:r="http://schemas.openxmlformats.org/officeDocument/2006/relationships" r:id="R1ab3aa69f4ad4e40"/>
  </p:notesMasterIdLst>
  <p:sldIdLst>
    <p:sldId xmlns:r="http://schemas.openxmlformats.org/officeDocument/2006/relationships" id="256" r:id="R930ab254a218431f"/>
    <p:sldId xmlns:r="http://schemas.openxmlformats.org/officeDocument/2006/relationships" id="257" r:id="R47175d592cc04293"/>
    <p:sldId xmlns:r="http://schemas.openxmlformats.org/officeDocument/2006/relationships" id="258" r:id="R6be7d5be20a749fd"/>
    <p:sldId xmlns:r="http://schemas.openxmlformats.org/officeDocument/2006/relationships" id="259" r:id="R497072b345cf488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73d5dfc13747ca" /><Relationship Type="http://schemas.openxmlformats.org/officeDocument/2006/relationships/slideMaster" Target="/ppt/slideMasters/slideMaster1.xml" Id="R36de3c73e0a94cc8" /><Relationship Type="http://schemas.openxmlformats.org/officeDocument/2006/relationships/notesMaster" Target="/ppt/notesMasters/notesMaster1.xml" Id="R1ab3aa69f4ad4e40" /><Relationship Type="http://schemas.openxmlformats.org/officeDocument/2006/relationships/presProps" Target="/ppt/presProps.xml" Id="R9ae988fcbb8d4d6e" /><Relationship Type="http://schemas.openxmlformats.org/officeDocument/2006/relationships/tableStyles" Target="/ppt/tableStyles.xml" Id="R3314e648ca41428f" /><Relationship Type="http://schemas.openxmlformats.org/officeDocument/2006/relationships/slide" Target="/ppt/slides/slide1.xml" Id="R930ab254a218431f" /><Relationship Type="http://schemas.openxmlformats.org/officeDocument/2006/relationships/slide" Target="/ppt/slides/slide2.xml" Id="R47175d592cc04293" /><Relationship Type="http://schemas.openxmlformats.org/officeDocument/2006/relationships/slide" Target="/ppt/slides/slide3.xml" Id="R6be7d5be20a749fd" /><Relationship Type="http://schemas.openxmlformats.org/officeDocument/2006/relationships/slide" Target="/ppt/slides/slide4.xml" Id="R497072b345cf48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ae0a9e19d243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d930f0a9b646c8" /><Relationship Type="http://schemas.openxmlformats.org/officeDocument/2006/relationships/notesMaster" Target="/ppt/notesMasters/notesMaster1.xml" Id="R9ad3fe461e994a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dc0a7d593f4648" /><Relationship Type="http://schemas.openxmlformats.org/officeDocument/2006/relationships/notesMaster" Target="/ppt/notesMasters/notesMaster1.xml" Id="Red86da24aae44bf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99d362c67146f0" /><Relationship Type="http://schemas.openxmlformats.org/officeDocument/2006/relationships/notesMaster" Target="/ppt/notesMasters/notesMaster1.xml" Id="R632aaa6ae74444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4f2084407b4894" /><Relationship Type="http://schemas.openxmlformats.org/officeDocument/2006/relationships/notesMaster" Target="/ppt/notesMasters/notesMaster1.xml" Id="Rec8e92e012464b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Fixture notes: title, body text, native shape, and original embedded image. [Sources] Original D431 fixture asset; no external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Fixture notes: native table with three columns and four rows. [Sources] Original D431 fixture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ebd91dac5645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9e7898f82549a0" /><Relationship Type="http://schemas.openxmlformats.org/officeDocument/2006/relationships/slideLayout" Target="/ppt/slideLayouts/slideLayout1.xml" Id="Rf317cb4bdc1644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17cb4bdc1644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103577a66142ea" /><Relationship Type="http://schemas.openxmlformats.org/officeDocument/2006/relationships/image" Target="/ppt/media/image.png" Id="Rd3b0a58d905b4b99" /><Relationship Type="http://schemas.openxmlformats.org/officeDocument/2006/relationships/notesSlide" Target="/ppt/notesSlides/notesSlide1.xml" Id="R6ddc15ca927e4d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b92e6b3b2b40a9" /><Relationship Type="http://schemas.openxmlformats.org/officeDocument/2006/relationships/chart" Target="/ppt/slides/charts/chart1.xml" Id="R57cae13ddc594f1d" /><Relationship Type="http://schemas.openxmlformats.org/officeDocument/2006/relationships/notesSlide" Target="/ppt/notesSlides/notesSlide2.xml" Id="Rce64d0cab8724c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d523725ff74dd6" /><Relationship Type="http://schemas.openxmlformats.org/officeDocument/2006/relationships/notesSlide" Target="/ppt/notesSlides/notesSlide3.xml" Id="Rcf50286877b040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488b068c7a46ba" /><Relationship Type="http://schemas.openxmlformats.org/officeDocument/2006/relationships/notesSlide" Target="/ppt/notesSlides/notesSlide4.xml" Id="Rcf89558186484ddf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Qualification coverage</a:t>
            </a:r>
          </a:p>
        </c:rich>
      </c:tx>
    </c:title>
    <c:plotArea>
      <c:barChart>
        <c:barDir val="col"/>
        <c:varyColors val="0"/>
        <c:ser>
          <c:idx val="0"/>
          <c:order val="0"/>
          <c:tx>
            <c:v>Checks</c:v>
          </c:tx>
          <c:spPr>
            <a:solidFill xmlns:a="http://schemas.openxmlformats.org/drawingml/2006/main">
              <a:srgbClr val="2E74B5"/>
            </a:solidFill>
          </c:spPr>
          <c:cat>
            <c:strLit>
              <c:ptCount val="3"/>
              <c:pt idx="0">
                <c:v>Visual</c:v>
              </c:pt>
              <c:pt idx="1">
                <c:v>Interaction</c:v>
              </c:pt>
              <c:pt idx="2">
                <c:v>Packaging</c:v>
              </c:pt>
            </c:strLit>
          </c:cat>
          <c:val>
            <c:numLit>
              <c:formatCode>General</c:formatCode>
              <c:ptCount val="3"/>
              <c:pt idx="0">
                <c:v>5</c:v>
              </c:pt>
              <c:pt idx="1">
                <c:v>4</c:v>
              </c:pt>
              <c:pt idx="2">
                <c:v>3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D5ADC9-433F-4BEA-87E8-CBAC25E9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001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B2545"/>
                </a:solidFill>
              </a:defRPr>
            </a:pPr>
            <a:r>
              <a:rPr sz="4050" b="1">
                <a:solidFill>
                  <a:srgbClr val="0B2545"/>
                </a:solidFill>
              </a:rPr>
              <a:t>Reader qualification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1CB6EC-25C6-461A-9EDD-EB9A1E7E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47825"/>
            <a:ext cx="685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77C"/>
                </a:solidFill>
              </a:defRPr>
            </a:pPr>
            <a:r>
              <a:rPr sz="1800">
                <a:solidFill>
                  <a:srgbClr val="52677C"/>
                </a:solidFill>
              </a:rPr>
              <a:t>Original OOXML visual evidence for a browser-native reader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C12D84-E4E6-4244-97F9-1F9D6714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628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b0a58d905b4b9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20050" y="2667000"/>
            <a:ext cx="2857500" cy="142875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</p:spTree>
    <p:extLst>
      <p:ext uri="{BB962C8B-B14F-4D97-AF65-F5344CB8AC3E}">
        <p14:creationId xmlns:p14="http://schemas.microsoft.com/office/powerpoint/2010/main" val="5548105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75B988-65C5-47BC-9701-C72BB70C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Evidence should lead to a format-by-format decision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mlns:a="http://schemas.openxmlformats.org/drawingml/2006/main" x="838200" y="1466850"/>
          <a:ext xmlns:a="http://schemas.openxmlformats.org/drawingml/2006/main" cx="619125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7cae13ddc594f1d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E1C9B6-7393-4DB3-B95E-038E60FC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33625"/>
            <a:ext cx="323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2677C"/>
                </a:solidFill>
              </a:defRPr>
            </a:pPr>
            <a:r>
              <a:rPr sz="1875">
                <a:solidFill>
                  <a:srgbClr val="52677C"/>
                </a:solidFill>
              </a:rPr>
              <a:t>Native chart objects test whether a renderer preserves labels, axes, and bar geometry.</a:t>
            </a:r>
          </a:p>
        </p:txBody>
      </p:sp>
    </p:spTree>
    <p:extLst>
      <p:ext uri="{BB962C8B-B14F-4D97-AF65-F5344CB8AC3E}">
        <p14:creationId xmlns:p14="http://schemas.microsoft.com/office/powerpoint/2010/main" val="19016091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728BA4-5BAB-4A22-9315-7EC0F71B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A compact native table exposes alignment and text wrapping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857250" y="1619250"/>
          <a:ext xmlns:a="http://schemas.openxmlformats.org/drawingml/2006/main" cx="8763000" cy="2571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921000"/>
                <a:gridCol w="2921000"/>
                <a:gridCol w="2921000"/>
              </a:tblGrid>
              <a:tr h="64293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Format</a:t>
                      </a:r>
                    </a:p>
                  </a:txBody>
                  <a:tcPr marL="91440" marR="91440" marT="45720" marB="4572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Gate</a:t>
                      </a:r>
                    </a:p>
                  </a:txBody>
                  <a:tcPr marL="91440" marR="91440" marT="45720" marB="4572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91440" marR="91440" marT="45720" marB="45720">
                    <a:solidFill>
                      <a:srgbClr val="0B2545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t>DOCX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Page geometry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Qualify</a:t>
                      </a:r>
                    </a:p>
                  </a:txBody>
                  <a:tcPr marL="91440" marR="91440" marT="45720" marB="45720"/>
                </a:tc>
              </a:tr>
              <a:tr h="642938">
                <a:tc>
                  <a:txBody>
                    <a:bodyPr/>
                    <a:lstStyle/>
                    <a:p>
                      <a:r>
                        <a:t>XLSX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Workbook viewport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Qualify</a:t>
                      </a:r>
                    </a:p>
                  </a:txBody>
                  <a:tcPr marL="91440" marR="91440" marT="45720" marB="45720"/>
                </a:tc>
              </a:tr>
              <a:tr h="642938">
                <a:tc>
                  <a:txBody>
                    <a:bodyPr/>
                    <a:lstStyle/>
                    <a:p>
                      <a:r>
                        <a:t>PPTX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Slide fidelity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Qualify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88938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25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9352CA-C7A9-44DF-A7A9-0105C2CA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52500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Decision rule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89EE84-DE45-4E64-BE49-8077DDCB6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809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DCE8F5"/>
                </a:solidFill>
              </a:defRPr>
            </a:pPr>
            <a:r>
              <a:rPr sz="2250">
                <a:solidFill>
                  <a:srgbClr val="DCE8F5"/>
                </a:solidFill>
              </a:rPr>
              <a:t>Replace a legacy view only after its own visual, interaction, and packaging evidence clears the gate.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281BC9-71C8-41E7-9844-DE538FB2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3714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6B325"/>
          </a:solidFill>
          <a:ln xmlns:a="http://schemas.openxmlformats.org/drawingml/2006/main" w="0">
            <a:solidFill>
              <a:srgbClr val="E6B32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69CECA-7B7A-4716-BB17-B2C6E057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10050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2545"/>
                </a:solidFill>
              </a:defRPr>
            </a:pPr>
            <a:r>
              <a:rPr sz="1725" b="1">
                <a:solidFill>
                  <a:srgbClr val="0B2545"/>
                </a:solidFill>
              </a:rPr>
              <a:t>Evidence before cutover</a:t>
            </a:r>
          </a:p>
        </p:txBody>
      </p:sp>
    </p:spTree>
    <p:extLst>
      <p:ext uri="{BB962C8B-B14F-4D97-AF65-F5344CB8AC3E}">
        <p14:creationId xmlns:p14="http://schemas.microsoft.com/office/powerpoint/2010/main" val="10386559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2026-07-27T16:05:20.0920000Z</dcterms:created>
  <dcterms:modified xsi:type="dcterms:W3CDTF">2026-07-27T16:05:20.0920000Z</dcterms:modified>
</coreProperties>
</file>